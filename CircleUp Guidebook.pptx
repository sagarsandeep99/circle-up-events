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Poppins"/>
      <p:regular r:id="rId19"/>
      <p:bold r:id="rId20"/>
      <p:italic r:id="rId21"/>
      <p:boldItalic r:id="rId22"/>
    </p:embeddedFont>
    <p:embeddedFont>
      <p:font typeface="Lato"/>
      <p:regular r:id="rId23"/>
      <p:bold r:id="rId24"/>
      <p:italic r:id="rId25"/>
      <p:boldItalic r:id="rId26"/>
    </p:embeddedFont>
    <p:embeddedFont>
      <p:font typeface="Poppins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57A98C-4582-4A97-8B1A-F8FE531CC68A}">
  <a:tblStyle styleId="{F557A98C-4582-4A97-8B1A-F8FE531CC68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28" Type="http://schemas.openxmlformats.org/officeDocument/2006/relationships/font" Target="fonts/PoppinsSemiBold-bold.fntdata"/><Relationship Id="rId27" Type="http://schemas.openxmlformats.org/officeDocument/2006/relationships/font" Target="fonts/Poppins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SemiBold-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PoppinsSemi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Poppins-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8.png"/><Relationship Id="rId9"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3.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900600" y="2582167"/>
            <a:ext cx="6390798"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FFFFF"/>
                </a:solidFill>
                <a:latin typeface="Poppins"/>
                <a:ea typeface="Poppins"/>
                <a:cs typeface="Poppins"/>
                <a:sym typeface="Poppins"/>
              </a:rPr>
              <a:t>CircleUp Guidebook</a:t>
            </a:r>
            <a:endParaRPr/>
          </a:p>
        </p:txBody>
      </p:sp>
      <p:sp>
        <p:nvSpPr>
          <p:cNvPr id="86" name="Google Shape;86;p13"/>
          <p:cNvSpPr txBox="1"/>
          <p:nvPr/>
        </p:nvSpPr>
        <p:spPr>
          <a:xfrm>
            <a:off x="2286000" y="3551783"/>
            <a:ext cx="7620000"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283AB"/>
                </a:solidFill>
                <a:latin typeface="Lato"/>
                <a:ea typeface="Lato"/>
                <a:cs typeface="Lato"/>
                <a:sym typeface="Lato"/>
              </a:rPr>
              <a:t>The definitive playbook for Pune's premier curated social mixers. Everything you need to know about our safety, curation, and experience blueprint.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14"/>
          <p:cNvSpPr/>
          <p:nvPr/>
        </p:nvSpPr>
        <p:spPr>
          <a:xfrm>
            <a:off x="5715000" y="2847975"/>
            <a:ext cx="762000" cy="38100"/>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txBox="1"/>
          <p:nvPr/>
        </p:nvSpPr>
        <p:spPr>
          <a:xfrm>
            <a:off x="2105501" y="3124200"/>
            <a:ext cx="7980997" cy="607665"/>
          </a:xfrm>
          <a:prstGeom prst="rect">
            <a:avLst/>
          </a:prstGeom>
          <a:noFill/>
          <a:ln>
            <a:noFill/>
          </a:ln>
        </p:spPr>
        <p:txBody>
          <a:bodyPr anchorCtr="0" anchor="t" bIns="0" lIns="0" spcFirstLastPara="1" rIns="0" wrap="square" tIns="0">
            <a:spAutoFit/>
          </a:bodyPr>
          <a:lstStyle/>
          <a:p>
            <a:pPr indent="0" lvl="0" marL="0" marR="0" rtl="0" algn="ctr">
              <a:lnSpc>
                <a:spcPct val="109977"/>
              </a:lnSpc>
              <a:spcBef>
                <a:spcPts val="0"/>
              </a:spcBef>
              <a:spcAft>
                <a:spcPts val="0"/>
              </a:spcAft>
              <a:buNone/>
            </a:pPr>
            <a:r>
              <a:rPr b="1" i="0" lang="en-US" sz="4350" u="none" cap="none" strike="noStrike">
                <a:solidFill>
                  <a:srgbClr val="FFFFFF"/>
                </a:solidFill>
                <a:latin typeface="Poppins"/>
                <a:ea typeface="Poppins"/>
                <a:cs typeface="Poppins"/>
                <a:sym typeface="Poppins"/>
              </a:rPr>
              <a:t>Who We Are &amp; What We Do</a:t>
            </a:r>
            <a:endParaRPr/>
          </a:p>
        </p:txBody>
      </p:sp>
      <p:sp>
        <p:nvSpPr>
          <p:cNvPr id="94" name="Google Shape;94;p14"/>
          <p:cNvSpPr txBox="1"/>
          <p:nvPr/>
        </p:nvSpPr>
        <p:spPr>
          <a:xfrm>
            <a:off x="2938462" y="3874740"/>
            <a:ext cx="6315075" cy="258960"/>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A peek inside our community blueprint and why we're bringing human-first socializing back.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image.png" id="99" name="Google Shape;9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 name="Google Shape;100;p15"/>
          <p:cNvPicPr preferRelativeResize="0"/>
          <p:nvPr/>
        </p:nvPicPr>
        <p:blipFill rotWithShape="1">
          <a:blip r:embed="rId4">
            <a:alphaModFix/>
          </a:blip>
          <a:srcRect b="0" l="0" r="0" t="0"/>
          <a:stretch/>
        </p:blipFill>
        <p:spPr>
          <a:xfrm>
            <a:off x="581025" y="2663428"/>
            <a:ext cx="5324475" cy="2455068"/>
          </a:xfrm>
          <a:prstGeom prst="rect">
            <a:avLst/>
          </a:prstGeom>
          <a:noFill/>
          <a:ln>
            <a:noFill/>
          </a:ln>
        </p:spPr>
      </p:pic>
      <p:pic>
        <p:nvPicPr>
          <p:cNvPr descr="image.png" id="101" name="Google Shape;101;p15"/>
          <p:cNvPicPr preferRelativeResize="0"/>
          <p:nvPr/>
        </p:nvPicPr>
        <p:blipFill rotWithShape="1">
          <a:blip r:embed="rId5">
            <a:alphaModFix/>
          </a:blip>
          <a:srcRect b="0" l="0" r="0" t="0"/>
          <a:stretch/>
        </p:blipFill>
        <p:spPr>
          <a:xfrm>
            <a:off x="6286500" y="2663428"/>
            <a:ext cx="5324475" cy="2455068"/>
          </a:xfrm>
          <a:prstGeom prst="rect">
            <a:avLst/>
          </a:prstGeom>
          <a:noFill/>
          <a:ln>
            <a:noFill/>
          </a:ln>
        </p:spPr>
      </p:pic>
      <p:sp>
        <p:nvSpPr>
          <p:cNvPr id="102" name="Google Shape;102;p15"/>
          <p:cNvSpPr txBox="1"/>
          <p:nvPr/>
        </p:nvSpPr>
        <p:spPr>
          <a:xfrm>
            <a:off x="923925" y="3006328"/>
            <a:ext cx="4870608"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oppins"/>
                <a:ea typeface="Poppins"/>
                <a:cs typeface="Poppins"/>
                <a:sym typeface="Poppins"/>
              </a:rPr>
              <a:t>Who Are We?</a:t>
            </a:r>
            <a:endParaRPr/>
          </a:p>
        </p:txBody>
      </p:sp>
      <p:sp>
        <p:nvSpPr>
          <p:cNvPr id="103" name="Google Shape;103;p15"/>
          <p:cNvSpPr/>
          <p:nvPr/>
        </p:nvSpPr>
        <p:spPr>
          <a:xfrm>
            <a:off x="923925" y="3473053"/>
            <a:ext cx="4638675"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4" name="Google Shape;104;p15"/>
          <p:cNvSpPr txBox="1"/>
          <p:nvPr/>
        </p:nvSpPr>
        <p:spPr>
          <a:xfrm>
            <a:off x="923925" y="3625453"/>
            <a:ext cx="4638675"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CircleUp is a high-vibe social discovery community built to bridge the gap between digital disconnect and real-life connections. We design hand-picked cozy public social settings where safety, security, and shared chemistry exist seamlessly.</a:t>
            </a:r>
            <a:endParaRPr/>
          </a:p>
        </p:txBody>
      </p:sp>
      <p:sp>
        <p:nvSpPr>
          <p:cNvPr id="105" name="Google Shape;105;p15"/>
          <p:cNvSpPr txBox="1"/>
          <p:nvPr/>
        </p:nvSpPr>
        <p:spPr>
          <a:xfrm>
            <a:off x="6629400" y="3006328"/>
            <a:ext cx="4870608"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oppins"/>
                <a:ea typeface="Poppins"/>
                <a:cs typeface="Poppins"/>
                <a:sym typeface="Poppins"/>
              </a:rPr>
              <a:t>What Do We Do?</a:t>
            </a:r>
            <a:endParaRPr/>
          </a:p>
        </p:txBody>
      </p:sp>
      <p:sp>
        <p:nvSpPr>
          <p:cNvPr id="106" name="Google Shape;106;p15"/>
          <p:cNvSpPr/>
          <p:nvPr/>
        </p:nvSpPr>
        <p:spPr>
          <a:xfrm>
            <a:off x="6629400" y="3473053"/>
            <a:ext cx="4638675"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5"/>
          <p:cNvSpPr txBox="1"/>
          <p:nvPr/>
        </p:nvSpPr>
        <p:spPr>
          <a:xfrm>
            <a:off x="6629400" y="3625453"/>
            <a:ext cx="4638675"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We curate intimate, closed circles of 8–10 hand-picked strangers. Through effortless ice-breakers, structured mini-games, and timed rotations, we make "stepping out of your box" feel safe, natural, and completely memorable.</a:t>
            </a:r>
            <a:endParaRPr/>
          </a:p>
        </p:txBody>
      </p:sp>
      <p:sp>
        <p:nvSpPr>
          <p:cNvPr id="108" name="Google Shape;108;p15"/>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Moving Beyond the Screens</a:t>
            </a:r>
            <a:endParaRPr/>
          </a:p>
        </p:txBody>
      </p:sp>
      <p:sp>
        <p:nvSpPr>
          <p:cNvPr id="109" name="Google Shape;109;p15"/>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image.png" id="114" name="Google Shape;114;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5" name="Google Shape;115;p16"/>
          <p:cNvPicPr preferRelativeResize="0"/>
          <p:nvPr/>
        </p:nvPicPr>
        <p:blipFill rotWithShape="1">
          <a:blip r:embed="rId4">
            <a:alphaModFix/>
          </a:blip>
          <a:srcRect b="0" l="0" r="0" t="0"/>
          <a:stretch/>
        </p:blipFill>
        <p:spPr>
          <a:xfrm>
            <a:off x="581025" y="2477690"/>
            <a:ext cx="3486150" cy="2826543"/>
          </a:xfrm>
          <a:prstGeom prst="rect">
            <a:avLst/>
          </a:prstGeom>
          <a:noFill/>
          <a:ln>
            <a:noFill/>
          </a:ln>
        </p:spPr>
      </p:pic>
      <p:pic>
        <p:nvPicPr>
          <p:cNvPr descr="image.png" id="116" name="Google Shape;116;p16"/>
          <p:cNvPicPr preferRelativeResize="0"/>
          <p:nvPr/>
        </p:nvPicPr>
        <p:blipFill rotWithShape="1">
          <a:blip r:embed="rId5">
            <a:alphaModFix/>
          </a:blip>
          <a:srcRect b="0" l="0" r="0" t="0"/>
          <a:stretch/>
        </p:blipFill>
        <p:spPr>
          <a:xfrm>
            <a:off x="4352925" y="2477690"/>
            <a:ext cx="3486150" cy="2826543"/>
          </a:xfrm>
          <a:prstGeom prst="rect">
            <a:avLst/>
          </a:prstGeom>
          <a:noFill/>
          <a:ln>
            <a:noFill/>
          </a:ln>
        </p:spPr>
      </p:pic>
      <p:pic>
        <p:nvPicPr>
          <p:cNvPr descr="image.png" id="117" name="Google Shape;117;p16"/>
          <p:cNvPicPr preferRelativeResize="0"/>
          <p:nvPr/>
        </p:nvPicPr>
        <p:blipFill rotWithShape="1">
          <a:blip r:embed="rId6">
            <a:alphaModFix/>
          </a:blip>
          <a:srcRect b="0" l="0" r="0" t="0"/>
          <a:stretch/>
        </p:blipFill>
        <p:spPr>
          <a:xfrm>
            <a:off x="8124825" y="2477690"/>
            <a:ext cx="3486150" cy="2826543"/>
          </a:xfrm>
          <a:prstGeom prst="rect">
            <a:avLst/>
          </a:prstGeom>
          <a:noFill/>
          <a:ln>
            <a:noFill/>
          </a:ln>
        </p:spPr>
      </p:pic>
      <p:sp>
        <p:nvSpPr>
          <p:cNvPr id="118" name="Google Shape;118;p16"/>
          <p:cNvSpPr txBox="1"/>
          <p:nvPr/>
        </p:nvSpPr>
        <p:spPr>
          <a:xfrm>
            <a:off x="803910" y="3373040"/>
            <a:ext cx="3040380"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F2E93"/>
                </a:solidFill>
                <a:latin typeface="Poppins"/>
                <a:ea typeface="Poppins"/>
                <a:cs typeface="Poppins"/>
                <a:sym typeface="Poppins"/>
              </a:rPr>
              <a:t>Skip Small Talk</a:t>
            </a:r>
            <a:endParaRPr/>
          </a:p>
        </p:txBody>
      </p:sp>
      <p:sp>
        <p:nvSpPr>
          <p:cNvPr id="119" name="Google Shape;119;p16"/>
          <p:cNvSpPr txBox="1"/>
          <p:nvPr/>
        </p:nvSpPr>
        <p:spPr>
          <a:xfrm>
            <a:off x="876300" y="3858815"/>
            <a:ext cx="2895600" cy="1035843"/>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No repetitive professional pitches or boring weather talks. Our ice-breakers are engineered to dive straight into genuine, rich stories.</a:t>
            </a:r>
            <a:endParaRPr/>
          </a:p>
        </p:txBody>
      </p:sp>
      <p:sp>
        <p:nvSpPr>
          <p:cNvPr id="120" name="Google Shape;120;p16"/>
          <p:cNvSpPr txBox="1"/>
          <p:nvPr/>
        </p:nvSpPr>
        <p:spPr>
          <a:xfrm>
            <a:off x="4575810" y="3373040"/>
            <a:ext cx="3040380"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F2E93"/>
                </a:solidFill>
                <a:latin typeface="Poppins"/>
                <a:ea typeface="Poppins"/>
                <a:cs typeface="Poppins"/>
                <a:sym typeface="Poppins"/>
              </a:rPr>
              <a:t>Flawless Balance</a:t>
            </a:r>
            <a:endParaRPr/>
          </a:p>
        </p:txBody>
      </p:sp>
      <p:sp>
        <p:nvSpPr>
          <p:cNvPr id="121" name="Google Shape;121;p16"/>
          <p:cNvSpPr txBox="1"/>
          <p:nvPr/>
        </p:nvSpPr>
        <p:spPr>
          <a:xfrm>
            <a:off x="4648200" y="3858815"/>
            <a:ext cx="2895600" cy="1035843"/>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We maintain a strict 1:1 gender ratio. In our intimate 8-10 person setup, every single guest feels seen, valued, and comfortably integrated.</a:t>
            </a:r>
            <a:endParaRPr/>
          </a:p>
        </p:txBody>
      </p:sp>
      <p:sp>
        <p:nvSpPr>
          <p:cNvPr id="122" name="Google Shape;122;p16"/>
          <p:cNvSpPr txBox="1"/>
          <p:nvPr/>
        </p:nvSpPr>
        <p:spPr>
          <a:xfrm>
            <a:off x="8347710" y="3373040"/>
            <a:ext cx="3040380"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950" u="none" cap="none" strike="noStrike">
                <a:solidFill>
                  <a:srgbClr val="FF2E93"/>
                </a:solidFill>
                <a:latin typeface="Poppins"/>
                <a:ea typeface="Poppins"/>
                <a:cs typeface="Poppins"/>
                <a:sym typeface="Poppins"/>
              </a:rPr>
              <a:t>Premium Venues</a:t>
            </a:r>
            <a:endParaRPr/>
          </a:p>
        </p:txBody>
      </p:sp>
      <p:sp>
        <p:nvSpPr>
          <p:cNvPr id="123" name="Google Shape;123;p16"/>
          <p:cNvSpPr txBox="1"/>
          <p:nvPr/>
        </p:nvSpPr>
        <p:spPr>
          <a:xfrm>
            <a:off x="8420100" y="3858815"/>
            <a:ext cx="2895600" cy="1035843"/>
          </a:xfrm>
          <a:prstGeom prst="rect">
            <a:avLst/>
          </a:prstGeom>
          <a:noFill/>
          <a:ln>
            <a:noFill/>
          </a:ln>
        </p:spPr>
        <p:txBody>
          <a:bodyPr anchorCtr="0" anchor="t" bIns="0" lIns="0" spcFirstLastPara="1" rIns="0" wrap="square" tIns="0">
            <a:spAutoFit/>
          </a:bodyPr>
          <a:lstStyle/>
          <a:p>
            <a:pPr indent="0" lvl="0" marL="0" marR="0" rtl="0" algn="ctr">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We only host inside top-tier public spaces with private spots in key Pune spots like Viman Nagar, KP, Kalyani Nagar, and Kharadi.</a:t>
            </a:r>
            <a:endParaRPr/>
          </a:p>
        </p:txBody>
      </p:sp>
      <p:pic>
        <p:nvPicPr>
          <p:cNvPr descr="image.png" id="124" name="Google Shape;124;p16"/>
          <p:cNvPicPr preferRelativeResize="0"/>
          <p:nvPr/>
        </p:nvPicPr>
        <p:blipFill rotWithShape="1">
          <a:blip r:embed="rId7">
            <a:alphaModFix/>
          </a:blip>
          <a:srcRect b="0" l="0" r="0" t="0"/>
          <a:stretch/>
        </p:blipFill>
        <p:spPr>
          <a:xfrm>
            <a:off x="2085975" y="2811065"/>
            <a:ext cx="476250" cy="381000"/>
          </a:xfrm>
          <a:prstGeom prst="rect">
            <a:avLst/>
          </a:prstGeom>
          <a:noFill/>
          <a:ln>
            <a:noFill/>
          </a:ln>
        </p:spPr>
      </p:pic>
      <p:pic>
        <p:nvPicPr>
          <p:cNvPr descr="image.png" id="125" name="Google Shape;125;p16"/>
          <p:cNvPicPr preferRelativeResize="0"/>
          <p:nvPr/>
        </p:nvPicPr>
        <p:blipFill rotWithShape="1">
          <a:blip r:embed="rId8">
            <a:alphaModFix/>
          </a:blip>
          <a:srcRect b="0" l="0" r="0" t="0"/>
          <a:stretch/>
        </p:blipFill>
        <p:spPr>
          <a:xfrm>
            <a:off x="5857875" y="2811065"/>
            <a:ext cx="476250" cy="381000"/>
          </a:xfrm>
          <a:prstGeom prst="rect">
            <a:avLst/>
          </a:prstGeom>
          <a:noFill/>
          <a:ln>
            <a:noFill/>
          </a:ln>
        </p:spPr>
      </p:pic>
      <p:pic>
        <p:nvPicPr>
          <p:cNvPr descr="image.png" id="126" name="Google Shape;126;p16"/>
          <p:cNvPicPr preferRelativeResize="0"/>
          <p:nvPr/>
        </p:nvPicPr>
        <p:blipFill rotWithShape="1">
          <a:blip r:embed="rId9">
            <a:alphaModFix/>
          </a:blip>
          <a:srcRect b="0" l="0" r="0" t="0"/>
          <a:stretch/>
        </p:blipFill>
        <p:spPr>
          <a:xfrm>
            <a:off x="9629775" y="2811065"/>
            <a:ext cx="476250" cy="381000"/>
          </a:xfrm>
          <a:prstGeom prst="rect">
            <a:avLst/>
          </a:prstGeom>
          <a:noFill/>
          <a:ln>
            <a:noFill/>
          </a:ln>
        </p:spPr>
      </p:pic>
      <p:sp>
        <p:nvSpPr>
          <p:cNvPr id="127" name="Google Shape;127;p16"/>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What to Expect at our Mixers</a:t>
            </a:r>
            <a:endParaRPr/>
          </a:p>
        </p:txBody>
      </p:sp>
      <p:sp>
        <p:nvSpPr>
          <p:cNvPr id="128" name="Google Shape;128;p16"/>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image.png" id="133" name="Google Shape;133;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4" name="Google Shape;134;p17"/>
          <p:cNvPicPr preferRelativeResize="0"/>
          <p:nvPr/>
        </p:nvPicPr>
        <p:blipFill rotWithShape="1">
          <a:blip r:embed="rId4">
            <a:alphaModFix/>
          </a:blip>
          <a:srcRect b="0" l="0" r="0" t="0"/>
          <a:stretch/>
        </p:blipFill>
        <p:spPr>
          <a:xfrm>
            <a:off x="581025" y="2663428"/>
            <a:ext cx="5324475" cy="2455068"/>
          </a:xfrm>
          <a:prstGeom prst="rect">
            <a:avLst/>
          </a:prstGeom>
          <a:noFill/>
          <a:ln>
            <a:noFill/>
          </a:ln>
        </p:spPr>
      </p:pic>
      <p:pic>
        <p:nvPicPr>
          <p:cNvPr descr="image.png" id="135" name="Google Shape;135;p17"/>
          <p:cNvPicPr preferRelativeResize="0"/>
          <p:nvPr/>
        </p:nvPicPr>
        <p:blipFill rotWithShape="1">
          <a:blip r:embed="rId5">
            <a:alphaModFix/>
          </a:blip>
          <a:srcRect b="0" l="0" r="0" t="0"/>
          <a:stretch/>
        </p:blipFill>
        <p:spPr>
          <a:xfrm>
            <a:off x="6286500" y="2663428"/>
            <a:ext cx="5324475" cy="2455068"/>
          </a:xfrm>
          <a:prstGeom prst="rect">
            <a:avLst/>
          </a:prstGeom>
          <a:noFill/>
          <a:ln>
            <a:noFill/>
          </a:ln>
        </p:spPr>
      </p:pic>
      <p:sp>
        <p:nvSpPr>
          <p:cNvPr id="136" name="Google Shape;136;p17"/>
          <p:cNvSpPr txBox="1"/>
          <p:nvPr/>
        </p:nvSpPr>
        <p:spPr>
          <a:xfrm>
            <a:off x="923925" y="3006328"/>
            <a:ext cx="4870608"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oppins"/>
                <a:ea typeface="Poppins"/>
                <a:cs typeface="Poppins"/>
                <a:sym typeface="Poppins"/>
              </a:rPr>
              <a:t>Going Solo</a:t>
            </a:r>
            <a:endParaRPr/>
          </a:p>
        </p:txBody>
      </p:sp>
      <p:sp>
        <p:nvSpPr>
          <p:cNvPr id="137" name="Google Shape;137;p17"/>
          <p:cNvSpPr/>
          <p:nvPr/>
        </p:nvSpPr>
        <p:spPr>
          <a:xfrm>
            <a:off x="923925" y="3473053"/>
            <a:ext cx="4638675"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7"/>
          <p:cNvSpPr txBox="1"/>
          <p:nvPr/>
        </p:nvSpPr>
        <p:spPr>
          <a:xfrm>
            <a:off x="923925" y="3625453"/>
            <a:ext cx="4638675"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Over 90% of our guests join solo! The circle is intentionally crafted to dissolve any stage fright. Our host leads you through the entire dynamic, making sure you feel relaxed, included, and perfectly placed from minute one.</a:t>
            </a:r>
            <a:endParaRPr/>
          </a:p>
        </p:txBody>
      </p:sp>
      <p:sp>
        <p:nvSpPr>
          <p:cNvPr id="139" name="Google Shape;139;p17"/>
          <p:cNvSpPr txBox="1"/>
          <p:nvPr/>
        </p:nvSpPr>
        <p:spPr>
          <a:xfrm>
            <a:off x="6629400" y="3006328"/>
            <a:ext cx="4870608"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FFFF"/>
                </a:solidFill>
                <a:latin typeface="Poppins"/>
                <a:ea typeface="Poppins"/>
                <a:cs typeface="Poppins"/>
                <a:sym typeface="Poppins"/>
              </a:rPr>
              <a:t>Bringing Friends</a:t>
            </a:r>
            <a:endParaRPr/>
          </a:p>
        </p:txBody>
      </p:sp>
      <p:sp>
        <p:nvSpPr>
          <p:cNvPr id="140" name="Google Shape;140;p17"/>
          <p:cNvSpPr/>
          <p:nvPr/>
        </p:nvSpPr>
        <p:spPr>
          <a:xfrm>
            <a:off x="6629400" y="3473053"/>
            <a:ext cx="4638675"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6629400" y="3625453"/>
            <a:ext cx="4638675"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You can register with friends! However, to maximize the quality of social discovery and help everyone step out of their comfortable bubbles, we may place you in separate circles to help you make completely new connections.</a:t>
            </a:r>
            <a:endParaRPr/>
          </a:p>
        </p:txBody>
      </p:sp>
      <p:sp>
        <p:nvSpPr>
          <p:cNvPr id="142" name="Google Shape;142;p17"/>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Can I Join Solo or with Friends?</a:t>
            </a:r>
            <a:endParaRPr/>
          </a:p>
        </p:txBody>
      </p:sp>
      <p:sp>
        <p:nvSpPr>
          <p:cNvPr id="143" name="Google Shape;143;p17"/>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image.png" id="148" name="Google Shape;148;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9" name="Google Shape;149;p18"/>
          <p:cNvSpPr/>
          <p:nvPr/>
        </p:nvSpPr>
        <p:spPr>
          <a:xfrm>
            <a:off x="581025" y="4062412"/>
            <a:ext cx="11029950" cy="38100"/>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8"/>
          <p:cNvSpPr txBox="1"/>
          <p:nvPr/>
        </p:nvSpPr>
        <p:spPr>
          <a:xfrm>
            <a:off x="613949" y="4367212"/>
            <a:ext cx="2617670"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FFFFFF"/>
                </a:solidFill>
                <a:latin typeface="Poppins SemiBold"/>
                <a:ea typeface="Poppins SemiBold"/>
                <a:cs typeface="Poppins SemiBold"/>
                <a:sym typeface="Poppins SemiBold"/>
              </a:rPr>
              <a:t>1. Form Fill</a:t>
            </a:r>
            <a:endParaRPr/>
          </a:p>
        </p:txBody>
      </p:sp>
      <p:sp>
        <p:nvSpPr>
          <p:cNvPr id="151" name="Google Shape;151;p18"/>
          <p:cNvSpPr txBox="1"/>
          <p:nvPr/>
        </p:nvSpPr>
        <p:spPr>
          <a:xfrm>
            <a:off x="676275" y="4729162"/>
            <a:ext cx="2493019"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B5A8CB"/>
                </a:solidFill>
                <a:latin typeface="Lato"/>
                <a:ea typeface="Lato"/>
                <a:cs typeface="Lato"/>
                <a:sym typeface="Lato"/>
              </a:rPr>
              <a:t>Share your personality vibe, social metrics, and calendar availability.</a:t>
            </a:r>
            <a:endParaRPr/>
          </a:p>
        </p:txBody>
      </p:sp>
      <p:sp>
        <p:nvSpPr>
          <p:cNvPr id="152" name="Google Shape;152;p18"/>
          <p:cNvSpPr txBox="1"/>
          <p:nvPr/>
        </p:nvSpPr>
        <p:spPr>
          <a:xfrm>
            <a:off x="3395993" y="2862262"/>
            <a:ext cx="2617670"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FFFFFF"/>
                </a:solidFill>
                <a:latin typeface="Poppins SemiBold"/>
                <a:ea typeface="Poppins SemiBold"/>
                <a:cs typeface="Poppins SemiBold"/>
                <a:sym typeface="Poppins SemiBold"/>
              </a:rPr>
              <a:t>2. Curation</a:t>
            </a:r>
            <a:endParaRPr/>
          </a:p>
        </p:txBody>
      </p:sp>
      <p:sp>
        <p:nvSpPr>
          <p:cNvPr id="153" name="Google Shape;153;p18"/>
          <p:cNvSpPr txBox="1"/>
          <p:nvPr/>
        </p:nvSpPr>
        <p:spPr>
          <a:xfrm>
            <a:off x="3458319" y="3224212"/>
            <a:ext cx="2493019"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B5A8CB"/>
                </a:solidFill>
                <a:latin typeface="Lato"/>
                <a:ea typeface="Lato"/>
                <a:cs typeface="Lato"/>
                <a:sym typeface="Lato"/>
              </a:rPr>
              <a:t>CUE team screens profiles to lock in custom-matched chemistry.</a:t>
            </a:r>
            <a:endParaRPr/>
          </a:p>
        </p:txBody>
      </p:sp>
      <p:sp>
        <p:nvSpPr>
          <p:cNvPr id="154" name="Google Shape;154;p18"/>
          <p:cNvSpPr txBox="1"/>
          <p:nvPr/>
        </p:nvSpPr>
        <p:spPr>
          <a:xfrm>
            <a:off x="6178037" y="4367212"/>
            <a:ext cx="2617670"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FFFFFF"/>
                </a:solidFill>
                <a:latin typeface="Poppins SemiBold"/>
                <a:ea typeface="Poppins SemiBold"/>
                <a:cs typeface="Poppins SemiBold"/>
                <a:sym typeface="Poppins SemiBold"/>
              </a:rPr>
              <a:t>3. Confirmation</a:t>
            </a:r>
            <a:endParaRPr/>
          </a:p>
        </p:txBody>
      </p:sp>
      <p:sp>
        <p:nvSpPr>
          <p:cNvPr id="155" name="Google Shape;155;p18"/>
          <p:cNvSpPr txBox="1"/>
          <p:nvPr/>
        </p:nvSpPr>
        <p:spPr>
          <a:xfrm>
            <a:off x="6240363" y="4729162"/>
            <a:ext cx="2493019"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B5A8CB"/>
                </a:solidFill>
                <a:latin typeface="Lato"/>
                <a:ea typeface="Lato"/>
                <a:cs typeface="Lato"/>
                <a:sym typeface="Lato"/>
              </a:rPr>
              <a:t>You review the curated date and venue, locking your availability.</a:t>
            </a:r>
            <a:endParaRPr/>
          </a:p>
        </p:txBody>
      </p:sp>
      <p:sp>
        <p:nvSpPr>
          <p:cNvPr id="156" name="Google Shape;156;p18"/>
          <p:cNvSpPr txBox="1"/>
          <p:nvPr/>
        </p:nvSpPr>
        <p:spPr>
          <a:xfrm>
            <a:off x="8960081" y="2862262"/>
            <a:ext cx="2617670" cy="3143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650" u="none" cap="none" strike="noStrike">
                <a:solidFill>
                  <a:srgbClr val="FFFFFF"/>
                </a:solidFill>
                <a:latin typeface="Poppins SemiBold"/>
                <a:ea typeface="Poppins SemiBold"/>
                <a:cs typeface="Poppins SemiBold"/>
                <a:sym typeface="Poppins SemiBold"/>
              </a:rPr>
              <a:t>4. Ticket &amp; ID</a:t>
            </a:r>
            <a:endParaRPr/>
          </a:p>
        </p:txBody>
      </p:sp>
      <p:sp>
        <p:nvSpPr>
          <p:cNvPr id="157" name="Google Shape;157;p18"/>
          <p:cNvSpPr txBox="1"/>
          <p:nvPr/>
        </p:nvSpPr>
        <p:spPr>
          <a:xfrm>
            <a:off x="9022407" y="3224212"/>
            <a:ext cx="2493019" cy="457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125" u="none" cap="none" strike="noStrike">
                <a:solidFill>
                  <a:srgbClr val="B5A8CB"/>
                </a:solidFill>
                <a:latin typeface="Lato"/>
                <a:ea typeface="Lato"/>
                <a:cs typeface="Lato"/>
                <a:sym typeface="Lato"/>
              </a:rPr>
              <a:t>Secure payment on BMS unlocks your CUE-ID and Boarding Pass.</a:t>
            </a:r>
            <a:endParaRPr/>
          </a:p>
        </p:txBody>
      </p:sp>
      <p:sp>
        <p:nvSpPr>
          <p:cNvPr id="158" name="Google Shape;158;p18"/>
          <p:cNvSpPr/>
          <p:nvPr/>
        </p:nvSpPr>
        <p:spPr>
          <a:xfrm>
            <a:off x="1827534" y="3986212"/>
            <a:ext cx="190500" cy="190500"/>
          </a:xfrm>
          <a:prstGeom prst="roundRect">
            <a:avLst>
              <a:gd fmla="val 50000" name="adj"/>
            </a:avLst>
          </a:prstGeom>
          <a:solidFill>
            <a:srgbClr val="0B0314"/>
          </a:solidFill>
          <a:ln cap="flat" cmpd="sng" w="38100">
            <a:solidFill>
              <a:srgbClr val="FF2E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8"/>
          <p:cNvSpPr/>
          <p:nvPr/>
        </p:nvSpPr>
        <p:spPr>
          <a:xfrm>
            <a:off x="4609579" y="3986212"/>
            <a:ext cx="190500" cy="190500"/>
          </a:xfrm>
          <a:prstGeom prst="roundRect">
            <a:avLst>
              <a:gd fmla="val 50000" name="adj"/>
            </a:avLst>
          </a:prstGeom>
          <a:solidFill>
            <a:srgbClr val="0B0314"/>
          </a:solidFill>
          <a:ln cap="flat" cmpd="sng" w="38100">
            <a:solidFill>
              <a:srgbClr val="FF2E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8"/>
          <p:cNvSpPr/>
          <p:nvPr/>
        </p:nvSpPr>
        <p:spPr>
          <a:xfrm>
            <a:off x="7391623" y="3986212"/>
            <a:ext cx="190500" cy="190500"/>
          </a:xfrm>
          <a:prstGeom prst="roundRect">
            <a:avLst>
              <a:gd fmla="val 50000" name="adj"/>
            </a:avLst>
          </a:prstGeom>
          <a:solidFill>
            <a:srgbClr val="0B0314"/>
          </a:solidFill>
          <a:ln cap="flat" cmpd="sng" w="38100">
            <a:solidFill>
              <a:srgbClr val="FF2E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p:nvPr/>
        </p:nvSpPr>
        <p:spPr>
          <a:xfrm>
            <a:off x="10173667" y="3986212"/>
            <a:ext cx="190500" cy="190500"/>
          </a:xfrm>
          <a:prstGeom prst="roundRect">
            <a:avLst>
              <a:gd fmla="val 50000" name="adj"/>
            </a:avLst>
          </a:prstGeom>
          <a:solidFill>
            <a:srgbClr val="0B0314"/>
          </a:solidFill>
          <a:ln cap="flat" cmpd="sng" w="38100">
            <a:solidFill>
              <a:srgbClr val="FF2E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8"/>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The Curation Funnel</a:t>
            </a:r>
            <a:endParaRPr/>
          </a:p>
        </p:txBody>
      </p:sp>
      <p:sp>
        <p:nvSpPr>
          <p:cNvPr id="163" name="Google Shape;163;p18"/>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image.png" id="168" name="Google Shape;168;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9" name="Google Shape;169;p19"/>
          <p:cNvPicPr preferRelativeResize="0"/>
          <p:nvPr/>
        </p:nvPicPr>
        <p:blipFill rotWithShape="1">
          <a:blip r:embed="rId4">
            <a:alphaModFix/>
          </a:blip>
          <a:srcRect b="0" l="0" r="0" t="0"/>
          <a:stretch/>
        </p:blipFill>
        <p:spPr>
          <a:xfrm>
            <a:off x="1624012" y="2271712"/>
            <a:ext cx="3238500" cy="3238500"/>
          </a:xfrm>
          <a:prstGeom prst="rect">
            <a:avLst/>
          </a:prstGeom>
          <a:noFill/>
          <a:ln>
            <a:noFill/>
          </a:ln>
        </p:spPr>
      </p:pic>
      <p:sp>
        <p:nvSpPr>
          <p:cNvPr id="170" name="Google Shape;170;p19"/>
          <p:cNvSpPr txBox="1"/>
          <p:nvPr/>
        </p:nvSpPr>
        <p:spPr>
          <a:xfrm>
            <a:off x="6286500" y="2756892"/>
            <a:ext cx="5590698"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50" u="none" cap="none" strike="noStrike">
                <a:solidFill>
                  <a:srgbClr val="FF2E93"/>
                </a:solidFill>
                <a:latin typeface="Poppins"/>
                <a:ea typeface="Poppins"/>
                <a:cs typeface="Poppins"/>
                <a:sym typeface="Poppins"/>
              </a:rPr>
              <a:t>The Masked Aadhaar Policy</a:t>
            </a:r>
            <a:endParaRPr/>
          </a:p>
        </p:txBody>
      </p:sp>
      <p:sp>
        <p:nvSpPr>
          <p:cNvPr id="171" name="Google Shape;171;p19"/>
          <p:cNvSpPr txBox="1"/>
          <p:nvPr/>
        </p:nvSpPr>
        <p:spPr>
          <a:xfrm>
            <a:off x="6286500" y="3242667"/>
            <a:ext cx="5324475" cy="517921"/>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0" i="0" lang="en-US" sz="1275" u="none" cap="none" strike="noStrike">
                <a:solidFill>
                  <a:srgbClr val="B5A8CB"/>
                </a:solidFill>
                <a:latin typeface="Lato"/>
                <a:ea typeface="Lato"/>
                <a:cs typeface="Lato"/>
                <a:sym typeface="Lato"/>
              </a:rPr>
              <a:t>To guarantee absolute comfort and safety, ID verification is a non-negotiable step before admission. We take trust seriously.</a:t>
            </a:r>
            <a:endParaRPr/>
          </a:p>
        </p:txBody>
      </p:sp>
      <p:sp>
        <p:nvSpPr>
          <p:cNvPr id="172" name="Google Shape;172;p19"/>
          <p:cNvSpPr txBox="1"/>
          <p:nvPr/>
        </p:nvSpPr>
        <p:spPr>
          <a:xfrm>
            <a:off x="6286500" y="3874889"/>
            <a:ext cx="5324475" cy="1035843"/>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None/>
            </a:pPr>
            <a:r>
              <a:rPr b="1" i="0" lang="en-US" sz="1275" u="none" cap="none" strike="noStrike">
                <a:solidFill>
                  <a:srgbClr val="B5A8CB"/>
                </a:solidFill>
                <a:latin typeface="Lato"/>
                <a:ea typeface="Lato"/>
                <a:cs typeface="Lato"/>
                <a:sym typeface="Lato"/>
              </a:rPr>
              <a:t>Masking is Welcomed:</a:t>
            </a:r>
            <a:r>
              <a:rPr b="0" i="0" lang="en-US" sz="1275" u="none" cap="none" strike="noStrike">
                <a:solidFill>
                  <a:srgbClr val="B5A8CB"/>
                </a:solidFill>
                <a:latin typeface="Lato"/>
                <a:ea typeface="Lato"/>
                <a:cs typeface="Lato"/>
                <a:sym typeface="Lato"/>
              </a:rPr>
              <a:t> We do not store or need your ID number. You can fully blur or block out your Aadhaar number! We only verify that the registered name and face match the real person entering our circle. Quick verification happens right at the door.</a:t>
            </a:r>
            <a:endParaRPr/>
          </a:p>
        </p:txBody>
      </p:sp>
      <p:pic>
        <p:nvPicPr>
          <p:cNvPr descr="image.png" id="173" name="Google Shape;173;p19"/>
          <p:cNvPicPr preferRelativeResize="0"/>
          <p:nvPr/>
        </p:nvPicPr>
        <p:blipFill rotWithShape="1">
          <a:blip r:embed="rId5">
            <a:alphaModFix/>
          </a:blip>
          <a:srcRect b="0" l="0" r="0" t="0"/>
          <a:stretch/>
        </p:blipFill>
        <p:spPr>
          <a:xfrm>
            <a:off x="1652587" y="2300287"/>
            <a:ext cx="3181350" cy="3181350"/>
          </a:xfrm>
          <a:prstGeom prst="rect">
            <a:avLst/>
          </a:prstGeom>
          <a:noFill/>
          <a:ln>
            <a:noFill/>
          </a:ln>
        </p:spPr>
      </p:pic>
      <p:sp>
        <p:nvSpPr>
          <p:cNvPr id="174" name="Google Shape;174;p19"/>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Safety &amp; Verification Protocol</a:t>
            </a:r>
            <a:endParaRPr/>
          </a:p>
        </p:txBody>
      </p:sp>
      <p:sp>
        <p:nvSpPr>
          <p:cNvPr id="175" name="Google Shape;175;p19"/>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descr="image.png" id="180" name="Google Shape;180;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1" name="Google Shape;181;p20"/>
          <p:cNvPicPr preferRelativeResize="0"/>
          <p:nvPr/>
        </p:nvPicPr>
        <p:blipFill rotWithShape="1">
          <a:blip r:embed="rId4">
            <a:alphaModFix/>
          </a:blip>
          <a:srcRect b="0" l="0" r="0" t="0"/>
          <a:stretch/>
        </p:blipFill>
        <p:spPr>
          <a:xfrm>
            <a:off x="581025" y="2146250"/>
            <a:ext cx="11029950" cy="3489275"/>
          </a:xfrm>
          <a:prstGeom prst="rect">
            <a:avLst/>
          </a:prstGeom>
          <a:noFill/>
          <a:ln>
            <a:noFill/>
          </a:ln>
        </p:spPr>
      </p:pic>
      <p:graphicFrame>
        <p:nvGraphicFramePr>
          <p:cNvPr id="182" name="Google Shape;182;p20"/>
          <p:cNvGraphicFramePr/>
          <p:nvPr/>
        </p:nvGraphicFramePr>
        <p:xfrm>
          <a:off x="590550" y="2155775"/>
          <a:ext cx="3000000" cy="3000000"/>
        </p:xfrm>
        <a:graphic>
          <a:graphicData uri="http://schemas.openxmlformats.org/drawingml/2006/table">
            <a:tbl>
              <a:tblPr bandRow="1" firstRow="1">
                <a:noFill/>
                <a:tableStyleId>{F557A98C-4582-4A97-8B1A-F8FE531CC68A}</a:tableStyleId>
              </a:tblPr>
              <a:tblGrid>
                <a:gridCol w="2527550"/>
                <a:gridCol w="3150850"/>
                <a:gridCol w="5332500"/>
              </a:tblGrid>
              <a:tr h="578375">
                <a:tc>
                  <a:txBody>
                    <a:bodyPr/>
                    <a:lstStyle/>
                    <a:p>
                      <a:pPr indent="0" lvl="0" marL="0" marR="0" rtl="0" algn="l">
                        <a:spcBef>
                          <a:spcPts val="0"/>
                        </a:spcBef>
                        <a:spcAft>
                          <a:spcPts val="0"/>
                        </a:spcAft>
                        <a:buNone/>
                      </a:pPr>
                      <a:r>
                        <a:rPr b="0" i="0" lang="en-US" sz="1425" u="none" cap="none" strike="noStrike">
                          <a:solidFill>
                            <a:srgbClr val="FFFFFF"/>
                          </a:solidFill>
                          <a:latin typeface="Poppins SemiBold"/>
                          <a:ea typeface="Poppins SemiBold"/>
                          <a:cs typeface="Poppins SemiBold"/>
                          <a:sym typeface="Poppins SemiBold"/>
                        </a:rPr>
                        <a:t>Experiential Asset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D0F31"/>
                    </a:solidFill>
                  </a:tcPr>
                </a:tc>
                <a:tc>
                  <a:txBody>
                    <a:bodyPr/>
                    <a:lstStyle/>
                    <a:p>
                      <a:pPr indent="0" lvl="0" marL="0" marR="0" rtl="0" algn="l">
                        <a:spcBef>
                          <a:spcPts val="0"/>
                        </a:spcBef>
                        <a:spcAft>
                          <a:spcPts val="0"/>
                        </a:spcAft>
                        <a:buNone/>
                      </a:pPr>
                      <a:r>
                        <a:rPr b="0" i="0" lang="en-US" sz="1425" u="none" cap="none" strike="noStrike">
                          <a:solidFill>
                            <a:srgbClr val="FFFFFF"/>
                          </a:solidFill>
                          <a:latin typeface="Poppins SemiBold"/>
                          <a:ea typeface="Poppins SemiBold"/>
                          <a:cs typeface="Poppins SemiBold"/>
                          <a:sym typeface="Poppins SemiBold"/>
                        </a:rPr>
                        <a:t>Standard Inclusions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D0F31"/>
                    </a:solidFill>
                  </a:tcPr>
                </a:tc>
                <a:tc>
                  <a:txBody>
                    <a:bodyPr/>
                    <a:lstStyle/>
                    <a:p>
                      <a:pPr indent="0" lvl="0" marL="0" marR="0" rtl="0" algn="l">
                        <a:spcBef>
                          <a:spcPts val="0"/>
                        </a:spcBef>
                        <a:spcAft>
                          <a:spcPts val="0"/>
                        </a:spcAft>
                        <a:buNone/>
                      </a:pPr>
                      <a:r>
                        <a:rPr b="0" i="0" lang="en-US" sz="1425" u="none" cap="none" strike="noStrike">
                          <a:solidFill>
                            <a:srgbClr val="FFFFFF"/>
                          </a:solidFill>
                          <a:latin typeface="Poppins SemiBold"/>
                          <a:ea typeface="Poppins SemiBold"/>
                          <a:cs typeface="Poppins SemiBold"/>
                          <a:sym typeface="Poppins SemiBold"/>
                        </a:rPr>
                        <a:t>Curation Details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D0F31"/>
                    </a:solidFill>
                  </a:tcPr>
                </a:tc>
              </a:tr>
              <a:tr h="578375">
                <a:tc>
                  <a:txBody>
                    <a:bodyPr/>
                    <a:lstStyle/>
                    <a:p>
                      <a:pPr indent="0" lvl="0" marL="0" marR="0" rtl="0" algn="l">
                        <a:spcBef>
                          <a:spcPts val="0"/>
                        </a:spcBef>
                        <a:spcAft>
                          <a:spcPts val="0"/>
                        </a:spcAft>
                        <a:buNone/>
                      </a:pPr>
                      <a:r>
                        <a:rPr b="1" i="0" lang="en-US" sz="1275" u="none" cap="none" strike="noStrike">
                          <a:solidFill>
                            <a:srgbClr val="B5A8CB"/>
                          </a:solidFill>
                          <a:latin typeface="Lato"/>
                          <a:ea typeface="Lato"/>
                          <a:cs typeface="Lato"/>
                          <a:sym typeface="Lato"/>
                        </a:rPr>
                        <a:t>Space &amp; Host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3 Hours of Curated Interaction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Private dedicated lounges, games, ice-breaker cards.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8375">
                <a:tc>
                  <a:txBody>
                    <a:bodyPr/>
                    <a:lstStyle/>
                    <a:p>
                      <a:pPr indent="0" lvl="0" marL="0" marR="0" rtl="0" algn="l">
                        <a:spcBef>
                          <a:spcPts val="0"/>
                        </a:spcBef>
                        <a:spcAft>
                          <a:spcPts val="0"/>
                        </a:spcAft>
                        <a:buNone/>
                      </a:pPr>
                      <a:r>
                        <a:rPr b="1" i="0" lang="en-US" sz="1275" u="none" cap="none" strike="noStrike">
                          <a:solidFill>
                            <a:srgbClr val="B5A8CB"/>
                          </a:solidFill>
                          <a:latin typeface="Lato"/>
                          <a:ea typeface="Lato"/>
                          <a:cs typeface="Lato"/>
                          <a:sym typeface="Lato"/>
                        </a:rPr>
                        <a:t>Starters Cover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3 Premium Starters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Wide range of delicious Veg and Non-Veg selections.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8375">
                <a:tc>
                  <a:txBody>
                    <a:bodyPr/>
                    <a:lstStyle/>
                    <a:p>
                      <a:pPr indent="0" lvl="0" marL="0" marR="0" rtl="0" algn="l">
                        <a:spcBef>
                          <a:spcPts val="0"/>
                        </a:spcBef>
                        <a:spcAft>
                          <a:spcPts val="0"/>
                        </a:spcAft>
                        <a:buNone/>
                      </a:pPr>
                      <a:r>
                        <a:rPr b="1" i="0" lang="en-US" sz="1275" u="none" cap="none" strike="noStrike">
                          <a:solidFill>
                            <a:srgbClr val="B5A8CB"/>
                          </a:solidFill>
                          <a:latin typeface="Lato"/>
                          <a:ea typeface="Lato"/>
                          <a:cs typeface="Lato"/>
                          <a:sym typeface="Lato"/>
                        </a:rPr>
                        <a:t>Beverages Cover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3 Premium Drinks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Selection of alcoholic drinks or non-alcoholic mocktails.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8375">
                <a:tc>
                  <a:txBody>
                    <a:bodyPr/>
                    <a:lstStyle/>
                    <a:p>
                      <a:pPr indent="0" lvl="0" marL="0" marR="0" rtl="0" algn="l">
                        <a:spcBef>
                          <a:spcPts val="0"/>
                        </a:spcBef>
                        <a:spcAft>
                          <a:spcPts val="0"/>
                        </a:spcAft>
                        <a:buNone/>
                      </a:pPr>
                      <a:r>
                        <a:rPr b="1" i="0" lang="en-US" sz="1275" u="none" cap="none" strike="noStrike">
                          <a:solidFill>
                            <a:srgbClr val="B5A8CB"/>
                          </a:solidFill>
                          <a:latin typeface="Lato"/>
                          <a:ea typeface="Lato"/>
                          <a:cs typeface="Lato"/>
                          <a:sym typeface="Lato"/>
                        </a:rPr>
                        <a:t>Sweet Treat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1 Signature Dessert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A custom treat to wrap up the evening sweet.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78375">
                <a:tc>
                  <a:txBody>
                    <a:bodyPr/>
                    <a:lstStyle/>
                    <a:p>
                      <a:pPr indent="0" lvl="0" marL="0" marR="0" rtl="0" algn="l">
                        <a:spcBef>
                          <a:spcPts val="0"/>
                        </a:spcBef>
                        <a:spcAft>
                          <a:spcPts val="0"/>
                        </a:spcAft>
                        <a:buNone/>
                      </a:pPr>
                      <a:r>
                        <a:rPr b="1" i="0" lang="en-US" sz="1275" u="none" cap="none" strike="noStrike">
                          <a:solidFill>
                            <a:srgbClr val="B5A8CB"/>
                          </a:solidFill>
                          <a:latin typeface="Lato"/>
                          <a:ea typeface="Lato"/>
                          <a:cs typeface="Lato"/>
                          <a:sym typeface="Lato"/>
                        </a:rPr>
                        <a:t>Pricing Strategy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Dynamic Ticketing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275" u="none" cap="none" strike="noStrike">
                          <a:solidFill>
                            <a:srgbClr val="B5A8CB"/>
                          </a:solidFill>
                          <a:latin typeface="Lato"/>
                          <a:ea typeface="Lato"/>
                          <a:cs typeface="Lato"/>
                          <a:sym typeface="Lato"/>
                        </a:rPr>
                        <a:t>Ticket cost varies depending on premium venue &amp; theme.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83" name="Google Shape;183;p20"/>
          <p:cNvSpPr/>
          <p:nvPr/>
        </p:nvSpPr>
        <p:spPr>
          <a:xfrm>
            <a:off x="590550" y="2740521"/>
            <a:ext cx="2527548" cy="19050"/>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20"/>
          <p:cNvSpPr/>
          <p:nvPr/>
        </p:nvSpPr>
        <p:spPr>
          <a:xfrm>
            <a:off x="3118098" y="2740521"/>
            <a:ext cx="3150840" cy="19050"/>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20"/>
          <p:cNvSpPr/>
          <p:nvPr/>
        </p:nvSpPr>
        <p:spPr>
          <a:xfrm>
            <a:off x="6268938" y="2740521"/>
            <a:ext cx="5332511" cy="19050"/>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20"/>
          <p:cNvSpPr/>
          <p:nvPr/>
        </p:nvSpPr>
        <p:spPr>
          <a:xfrm>
            <a:off x="590550" y="3328094"/>
            <a:ext cx="2527548"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20"/>
          <p:cNvSpPr/>
          <p:nvPr/>
        </p:nvSpPr>
        <p:spPr>
          <a:xfrm>
            <a:off x="3118098" y="3328094"/>
            <a:ext cx="3150840"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20"/>
          <p:cNvSpPr/>
          <p:nvPr/>
        </p:nvSpPr>
        <p:spPr>
          <a:xfrm>
            <a:off x="6268938" y="3328094"/>
            <a:ext cx="5332511"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20"/>
          <p:cNvSpPr/>
          <p:nvPr/>
        </p:nvSpPr>
        <p:spPr>
          <a:xfrm>
            <a:off x="590550" y="3901380"/>
            <a:ext cx="2527548"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20"/>
          <p:cNvSpPr/>
          <p:nvPr/>
        </p:nvSpPr>
        <p:spPr>
          <a:xfrm>
            <a:off x="3118098" y="3901380"/>
            <a:ext cx="3150840"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20"/>
          <p:cNvSpPr/>
          <p:nvPr/>
        </p:nvSpPr>
        <p:spPr>
          <a:xfrm>
            <a:off x="6268938" y="3901380"/>
            <a:ext cx="5332511"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20"/>
          <p:cNvSpPr/>
          <p:nvPr/>
        </p:nvSpPr>
        <p:spPr>
          <a:xfrm>
            <a:off x="590550" y="4474666"/>
            <a:ext cx="2527548"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20"/>
          <p:cNvSpPr/>
          <p:nvPr/>
        </p:nvSpPr>
        <p:spPr>
          <a:xfrm>
            <a:off x="3118098" y="4474666"/>
            <a:ext cx="3150840"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20"/>
          <p:cNvSpPr/>
          <p:nvPr/>
        </p:nvSpPr>
        <p:spPr>
          <a:xfrm>
            <a:off x="6268938" y="4474666"/>
            <a:ext cx="5332511"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20"/>
          <p:cNvSpPr/>
          <p:nvPr/>
        </p:nvSpPr>
        <p:spPr>
          <a:xfrm>
            <a:off x="590550" y="5047952"/>
            <a:ext cx="2527548"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0"/>
          <p:cNvSpPr/>
          <p:nvPr/>
        </p:nvSpPr>
        <p:spPr>
          <a:xfrm>
            <a:off x="3118098" y="5047952"/>
            <a:ext cx="3150840"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0"/>
          <p:cNvSpPr/>
          <p:nvPr/>
        </p:nvSpPr>
        <p:spPr>
          <a:xfrm>
            <a:off x="6268938" y="5047952"/>
            <a:ext cx="5332511" cy="95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8" name="Google Shape;198;p20"/>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Curated Space &amp; Ticket Covers</a:t>
            </a:r>
            <a:endParaRPr/>
          </a:p>
        </p:txBody>
      </p:sp>
      <p:sp>
        <p:nvSpPr>
          <p:cNvPr id="199" name="Google Shape;199;p20"/>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pic>
        <p:nvPicPr>
          <p:cNvPr descr="image.png" id="204" name="Google Shape;204;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5" name="Google Shape;205;p21"/>
          <p:cNvSpPr txBox="1"/>
          <p:nvPr/>
        </p:nvSpPr>
        <p:spPr>
          <a:xfrm>
            <a:off x="2000250" y="2710904"/>
            <a:ext cx="86201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FFFFF"/>
                </a:solidFill>
                <a:latin typeface="Lato"/>
                <a:ea typeface="Lato"/>
                <a:cs typeface="Lato"/>
                <a:sym typeface="Lato"/>
              </a:rPr>
              <a:t>48-Hour Refund Policy:</a:t>
            </a:r>
            <a:r>
              <a:rPr b="0" i="0" lang="en-US" sz="1350" u="none" cap="none" strike="noStrike">
                <a:solidFill>
                  <a:srgbClr val="B5A8CB"/>
                </a:solidFill>
                <a:latin typeface="Lato"/>
                <a:ea typeface="Lato"/>
                <a:cs typeface="Lato"/>
                <a:sym typeface="Lato"/>
              </a:rPr>
              <a:t> Tickets are non-refundable within 48 hours of the scheduled mixer. Cancellations within this window directly disrupt the 1:1 balance carefully structured for the guests.</a:t>
            </a:r>
            <a:endParaRPr/>
          </a:p>
        </p:txBody>
      </p:sp>
      <p:sp>
        <p:nvSpPr>
          <p:cNvPr id="206" name="Google Shape;206;p21"/>
          <p:cNvSpPr txBox="1"/>
          <p:nvPr/>
        </p:nvSpPr>
        <p:spPr>
          <a:xfrm>
            <a:off x="2000250" y="3497609"/>
            <a:ext cx="86201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FFFFF"/>
                </a:solidFill>
                <a:latin typeface="Lato"/>
                <a:ea typeface="Lato"/>
                <a:cs typeface="Lato"/>
                <a:sym typeface="Lato"/>
              </a:rPr>
              <a:t>Non-Transferable Invites:</a:t>
            </a:r>
            <a:r>
              <a:rPr b="0" i="0" lang="en-US" sz="1350" u="none" cap="none" strike="noStrike">
                <a:solidFill>
                  <a:srgbClr val="B5A8CB"/>
                </a:solidFill>
                <a:latin typeface="Lato"/>
                <a:ea typeface="Lato"/>
                <a:cs typeface="Lato"/>
                <a:sym typeface="Lato"/>
              </a:rPr>
              <a:t> Every pass is custom-vetted for your unique profile. Passes cannot be gifted or handed over to friends without direct CUE curation approval.</a:t>
            </a:r>
            <a:endParaRPr/>
          </a:p>
        </p:txBody>
      </p:sp>
      <p:sp>
        <p:nvSpPr>
          <p:cNvPr id="207" name="Google Shape;207;p21"/>
          <p:cNvSpPr txBox="1"/>
          <p:nvPr/>
        </p:nvSpPr>
        <p:spPr>
          <a:xfrm>
            <a:off x="2000250" y="4284315"/>
            <a:ext cx="86201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FFFFF"/>
                </a:solidFill>
                <a:latin typeface="Lato"/>
                <a:ea typeface="Lato"/>
                <a:cs typeface="Lato"/>
                <a:sym typeface="Lato"/>
              </a:rPr>
              <a:t>Conduct Standards:</a:t>
            </a:r>
            <a:r>
              <a:rPr b="0" i="0" lang="en-US" sz="1350" u="none" cap="none" strike="noStrike">
                <a:solidFill>
                  <a:srgbClr val="B5A8CB"/>
                </a:solidFill>
                <a:latin typeface="Lato"/>
                <a:ea typeface="Lato"/>
                <a:cs typeface="Lato"/>
                <a:sym typeface="Lato"/>
              </a:rPr>
              <a:t> We maintain a strict zero-tolerance policy for inappropriate, disrespectful, or unsafe behaviour. Entry will be revoked immediately without refund if rules are violated.</a:t>
            </a:r>
            <a:endParaRPr/>
          </a:p>
        </p:txBody>
      </p:sp>
      <p:pic>
        <p:nvPicPr>
          <p:cNvPr descr="image.png" id="208" name="Google Shape;208;p21"/>
          <p:cNvPicPr preferRelativeResize="0"/>
          <p:nvPr/>
        </p:nvPicPr>
        <p:blipFill rotWithShape="1">
          <a:blip r:embed="rId4">
            <a:alphaModFix/>
          </a:blip>
          <a:srcRect b="0" l="0" r="0" t="0"/>
          <a:stretch/>
        </p:blipFill>
        <p:spPr>
          <a:xfrm>
            <a:off x="1619250" y="2744241"/>
            <a:ext cx="180975" cy="219075"/>
          </a:xfrm>
          <a:prstGeom prst="rect">
            <a:avLst/>
          </a:prstGeom>
          <a:noFill/>
          <a:ln>
            <a:noFill/>
          </a:ln>
        </p:spPr>
      </p:pic>
      <p:pic>
        <p:nvPicPr>
          <p:cNvPr descr="image.png" id="209" name="Google Shape;209;p21"/>
          <p:cNvPicPr preferRelativeResize="0"/>
          <p:nvPr/>
        </p:nvPicPr>
        <p:blipFill rotWithShape="1">
          <a:blip r:embed="rId5">
            <a:alphaModFix/>
          </a:blip>
          <a:srcRect b="0" l="0" r="0" t="0"/>
          <a:stretch/>
        </p:blipFill>
        <p:spPr>
          <a:xfrm>
            <a:off x="1619250" y="3530947"/>
            <a:ext cx="238125" cy="219075"/>
          </a:xfrm>
          <a:prstGeom prst="rect">
            <a:avLst/>
          </a:prstGeom>
          <a:noFill/>
          <a:ln>
            <a:noFill/>
          </a:ln>
        </p:spPr>
      </p:pic>
      <p:pic>
        <p:nvPicPr>
          <p:cNvPr descr="image.png" id="210" name="Google Shape;210;p21"/>
          <p:cNvPicPr preferRelativeResize="0"/>
          <p:nvPr/>
        </p:nvPicPr>
        <p:blipFill rotWithShape="1">
          <a:blip r:embed="rId6">
            <a:alphaModFix/>
          </a:blip>
          <a:srcRect b="0" l="0" r="0" t="0"/>
          <a:stretch/>
        </p:blipFill>
        <p:spPr>
          <a:xfrm>
            <a:off x="1619250" y="4317652"/>
            <a:ext cx="266700" cy="219075"/>
          </a:xfrm>
          <a:prstGeom prst="rect">
            <a:avLst/>
          </a:prstGeom>
          <a:noFill/>
          <a:ln>
            <a:noFill/>
          </a:ln>
        </p:spPr>
      </p:pic>
      <p:sp>
        <p:nvSpPr>
          <p:cNvPr id="211" name="Google Shape;211;p21"/>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Ground Rules &amp; T&amp;C</a:t>
            </a:r>
            <a:endParaRPr/>
          </a:p>
        </p:txBody>
      </p:sp>
      <p:sp>
        <p:nvSpPr>
          <p:cNvPr id="212" name="Google Shape;212;p21"/>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descr="image.png" id="217" name="Google Shape;217;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 name="Google Shape;218;p22"/>
          <p:cNvSpPr txBox="1"/>
          <p:nvPr/>
        </p:nvSpPr>
        <p:spPr>
          <a:xfrm>
            <a:off x="1608832" y="2586037"/>
            <a:ext cx="8974335" cy="21431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250" u="none" cap="none" strike="noStrike">
                <a:solidFill>
                  <a:srgbClr val="FFFFFF"/>
                </a:solidFill>
                <a:latin typeface="Poppins"/>
                <a:ea typeface="Poppins"/>
                <a:cs typeface="Poppins"/>
                <a:sym typeface="Poppins"/>
              </a:rPr>
              <a:t>We are not competitors. We are all on the exact same boat, aiming to give you a vibrant social experience that would otherwise take massive personal effort to organize. Each social group offers a unique journey—and we continually strive to upscale your comfort at CircleUp.</a:t>
            </a:r>
            <a:endParaRPr/>
          </a:p>
        </p:txBody>
      </p:sp>
      <p:sp>
        <p:nvSpPr>
          <p:cNvPr id="219" name="Google Shape;219;p22"/>
          <p:cNvSpPr txBox="1"/>
          <p:nvPr/>
        </p:nvSpPr>
        <p:spPr>
          <a:xfrm>
            <a:off x="5186362" y="4967287"/>
            <a:ext cx="1819275"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FF2E93"/>
                </a:solidFill>
                <a:latin typeface="Lato"/>
                <a:ea typeface="Lato"/>
                <a:cs typeface="Lato"/>
                <a:sym typeface="Lato"/>
              </a:rPr>
              <a:t>— TEAM CIRCLEUP</a:t>
            </a:r>
            <a:endParaRPr/>
          </a:p>
        </p:txBody>
      </p:sp>
      <p:sp>
        <p:nvSpPr>
          <p:cNvPr id="220" name="Google Shape;220;p22"/>
          <p:cNvSpPr txBox="1"/>
          <p:nvPr/>
        </p:nvSpPr>
        <p:spPr>
          <a:xfrm>
            <a:off x="989707" y="2967037"/>
            <a:ext cx="333375" cy="17145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FF2E93"/>
                </a:solidFill>
                <a:latin typeface="Poppins"/>
                <a:ea typeface="Poppins"/>
                <a:cs typeface="Poppins"/>
                <a:sym typeface="Poppins"/>
              </a:rPr>
              <a:t>"</a:t>
            </a:r>
            <a:endParaRPr/>
          </a:p>
        </p:txBody>
      </p:sp>
      <p:sp>
        <p:nvSpPr>
          <p:cNvPr id="221" name="Google Shape;221;p22"/>
          <p:cNvSpPr txBox="1"/>
          <p:nvPr/>
        </p:nvSpPr>
        <p:spPr>
          <a:xfrm>
            <a:off x="10868941" y="4872037"/>
            <a:ext cx="333375" cy="1714500"/>
          </a:xfrm>
          <a:prstGeom prst="rect">
            <a:avLst/>
          </a:prstGeom>
          <a:noFill/>
          <a:ln>
            <a:noFill/>
          </a:ln>
        </p:spPr>
        <p:txBody>
          <a:bodyPr anchorCtr="0" anchor="t" bIns="0" lIns="0" spcFirstLastPara="1" rIns="0" wrap="square" tIns="0">
            <a:spAutoFit/>
          </a:bodyPr>
          <a:lstStyle/>
          <a:p>
            <a:pPr indent="0" lvl="0" marL="0" marR="0" rtl="0" algn="l">
              <a:lnSpc>
                <a:spcPct val="0"/>
              </a:lnSpc>
              <a:spcBef>
                <a:spcPts val="0"/>
              </a:spcBef>
              <a:spcAft>
                <a:spcPts val="0"/>
              </a:spcAft>
              <a:buNone/>
            </a:pPr>
            <a:r>
              <a:rPr b="0" i="0" lang="en-US" sz="9000" u="none" cap="none" strike="noStrike">
                <a:solidFill>
                  <a:srgbClr val="FF2E93"/>
                </a:solidFill>
                <a:latin typeface="Poppins"/>
                <a:ea typeface="Poppins"/>
                <a:cs typeface="Poppins"/>
                <a:sym typeface="Poppins"/>
              </a:rPr>
              <a:t>"</a:t>
            </a:r>
            <a:endParaRPr/>
          </a:p>
        </p:txBody>
      </p:sp>
      <p:sp>
        <p:nvSpPr>
          <p:cNvPr id="222" name="Google Shape;222;p22"/>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Are We the Best?</a:t>
            </a:r>
            <a:endParaRPr/>
          </a:p>
        </p:txBody>
      </p:sp>
      <p:sp>
        <p:nvSpPr>
          <p:cNvPr id="223" name="Google Shape;223;p22"/>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image.png" id="228" name="Google Shape;228;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p23"/>
          <p:cNvSpPr txBox="1"/>
          <p:nvPr/>
        </p:nvSpPr>
        <p:spPr>
          <a:xfrm>
            <a:off x="305276" y="2347019"/>
            <a:ext cx="11581447" cy="1028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5400" u="none" cap="none" strike="noStrike">
                <a:solidFill>
                  <a:srgbClr val="FFFFFF"/>
                </a:solidFill>
                <a:latin typeface="Poppins"/>
                <a:ea typeface="Poppins"/>
                <a:cs typeface="Poppins"/>
                <a:sym typeface="Poppins"/>
              </a:rPr>
              <a:t>See You in the Circle!</a:t>
            </a:r>
            <a:endParaRPr/>
          </a:p>
        </p:txBody>
      </p:sp>
      <p:sp>
        <p:nvSpPr>
          <p:cNvPr id="230" name="Google Shape;230;p23"/>
          <p:cNvSpPr txBox="1"/>
          <p:nvPr/>
        </p:nvSpPr>
        <p:spPr>
          <a:xfrm>
            <a:off x="581025" y="3518594"/>
            <a:ext cx="1102995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B5A8CB"/>
                </a:solidFill>
                <a:latin typeface="Lato"/>
                <a:ea typeface="Lato"/>
                <a:cs typeface="Lato"/>
                <a:sym typeface="Lato"/>
              </a:rPr>
              <a:t>Ready to experience a curated side of Pune's premium social scene?</a:t>
            </a:r>
            <a:endParaRPr/>
          </a:p>
        </p:txBody>
      </p:sp>
      <p:sp>
        <p:nvSpPr>
          <p:cNvPr id="231" name="Google Shape;231;p23"/>
          <p:cNvSpPr txBox="1"/>
          <p:nvPr/>
        </p:nvSpPr>
        <p:spPr>
          <a:xfrm>
            <a:off x="581025" y="4234755"/>
            <a:ext cx="1102995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FF2E93"/>
                </a:solidFill>
                <a:latin typeface="Lato"/>
                <a:ea typeface="Lato"/>
                <a:cs typeface="Lato"/>
                <a:sym typeface="Lato"/>
              </a:rPr>
              <a:t>DM "INTERESTED" on Instagram | @CircleUp_Events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descr="image.png" id="236" name="Google Shape;23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7" name="Google Shape;237;p24"/>
          <p:cNvPicPr preferRelativeResize="0"/>
          <p:nvPr/>
        </p:nvPicPr>
        <p:blipFill rotWithShape="1">
          <a:blip r:embed="rId4">
            <a:alphaModFix/>
          </a:blip>
          <a:srcRect b="0" l="0" r="0" t="0"/>
          <a:stretch/>
        </p:blipFill>
        <p:spPr>
          <a:xfrm>
            <a:off x="581025" y="3652837"/>
            <a:ext cx="857250" cy="476250"/>
          </a:xfrm>
          <a:prstGeom prst="rect">
            <a:avLst/>
          </a:prstGeom>
          <a:noFill/>
          <a:ln>
            <a:noFill/>
          </a:ln>
        </p:spPr>
      </p:pic>
      <p:sp>
        <p:nvSpPr>
          <p:cNvPr id="238" name="Google Shape;238;p24"/>
          <p:cNvSpPr txBox="1"/>
          <p:nvPr/>
        </p:nvSpPr>
        <p:spPr>
          <a:xfrm>
            <a:off x="1676400" y="3547169"/>
            <a:ext cx="993457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B5A8CB"/>
                </a:solidFill>
                <a:latin typeface="Lato"/>
                <a:ea typeface="Lato"/>
                <a:cs typeface="Lato"/>
                <a:sym typeface="Lato"/>
              </a:rPr>
              <a:t>https://img.magnific.com/premium-vector/guard-shield-cyber-security-concept-with-glowing-low-poly-shield-dark-blue-background-wireframe-low-poly-design-abstract-futuristic-vector-illustration_468958-3822.jpg?semt=ais_hybrid&amp;w=740&amp;q=80</a:t>
            </a:r>
            <a:endParaRPr/>
          </a:p>
        </p:txBody>
      </p:sp>
      <p:sp>
        <p:nvSpPr>
          <p:cNvPr id="239" name="Google Shape;239;p24"/>
          <p:cNvSpPr txBox="1"/>
          <p:nvPr/>
        </p:nvSpPr>
        <p:spPr>
          <a:xfrm>
            <a:off x="1676400" y="3990975"/>
            <a:ext cx="993457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B5A8CB"/>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www.magnific.com</a:t>
            </a:r>
            <a:endParaRPr/>
          </a:p>
        </p:txBody>
      </p:sp>
      <p:sp>
        <p:nvSpPr>
          <p:cNvPr id="240" name="Google Shape;240;p24"/>
          <p:cNvSpPr txBox="1"/>
          <p:nvPr/>
        </p:nvSpPr>
        <p:spPr>
          <a:xfrm>
            <a:off x="723900" y="581025"/>
            <a:ext cx="11431428" cy="542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50" u="none" cap="none" strike="noStrike">
                <a:solidFill>
                  <a:srgbClr val="FFFFFF"/>
                </a:solidFill>
                <a:latin typeface="Poppins SemiBold"/>
                <a:ea typeface="Poppins SemiBold"/>
                <a:cs typeface="Poppins SemiBold"/>
                <a:sym typeface="Poppins SemiBold"/>
              </a:rPr>
              <a:t>Image Sources</a:t>
            </a:r>
            <a:endParaRPr/>
          </a:p>
        </p:txBody>
      </p:sp>
      <p:sp>
        <p:nvSpPr>
          <p:cNvPr id="241" name="Google Shape;241;p24"/>
          <p:cNvSpPr/>
          <p:nvPr/>
        </p:nvSpPr>
        <p:spPr>
          <a:xfrm>
            <a:off x="581025" y="581025"/>
            <a:ext cx="47625" cy="542925"/>
          </a:xfrm>
          <a:prstGeom prst="rect">
            <a:avLst/>
          </a:prstGeom>
          <a:solidFill>
            <a:srgbClr val="FF2E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